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Semi-Bold" charset="1" panose="00000700000000000000"/>
      <p:regular r:id="rId16"/>
    </p:embeddedFont>
    <p:embeddedFont>
      <p:font typeface="Poppins" charset="1" panose="00000500000000000000"/>
      <p:regular r:id="rId17"/>
    </p:embeddedFont>
    <p:embeddedFont>
      <p:font typeface="Glacial Indifference" charset="1" panose="00000000000000000000"/>
      <p:regular r:id="rId18"/>
    </p:embeddedFont>
    <p:embeddedFont>
      <p:font typeface="HK Grotesk Bold" charset="1" panose="00000800000000000000"/>
      <p:regular r:id="rId19"/>
    </p:embeddedFont>
    <p:embeddedFont>
      <p:font typeface="HK Grotesk" charset="1" panose="000005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D4EDF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10563" y="4182261"/>
            <a:ext cx="13066873" cy="165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345C7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InsightfulProctor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10563" y="6233499"/>
            <a:ext cx="13066873" cy="1102116"/>
            <a:chOff x="0" y="0"/>
            <a:chExt cx="3441481" cy="2902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41481" cy="290269"/>
            </a:xfrm>
            <a:custGeom>
              <a:avLst/>
              <a:gdLst/>
              <a:ahLst/>
              <a:cxnLst/>
              <a:rect r="r" b="b" t="t" l="l"/>
              <a:pathLst>
                <a:path h="290269" w="3441481">
                  <a:moveTo>
                    <a:pt x="0" y="0"/>
                  </a:moveTo>
                  <a:lnTo>
                    <a:pt x="3441481" y="0"/>
                  </a:lnTo>
                  <a:lnTo>
                    <a:pt x="3441481" y="290269"/>
                  </a:lnTo>
                  <a:lnTo>
                    <a:pt x="0" y="290269"/>
                  </a:lnTo>
                  <a:close/>
                </a:path>
              </a:pathLst>
            </a:custGeom>
            <a:solidFill>
              <a:srgbClr val="D4EDF4"/>
            </a:solidFill>
            <a:ln w="28575" cap="sq">
              <a:solidFill>
                <a:srgbClr val="345C7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41481" cy="32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00450" y="6562438"/>
            <a:ext cx="12687099" cy="4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AI‑POWERED REMOTE INTERVIEW PROCTORING &amp; MONITORING.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2057771"/>
            <a:chOff x="0" y="0"/>
            <a:chExt cx="13390262" cy="1697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90262" cy="1697663"/>
            </a:xfrm>
            <a:custGeom>
              <a:avLst/>
              <a:gdLst/>
              <a:ahLst/>
              <a:cxnLst/>
              <a:rect r="r" b="b" t="t" l="l"/>
              <a:pathLst>
                <a:path h="1697663" w="13390262">
                  <a:moveTo>
                    <a:pt x="0" y="0"/>
                  </a:moveTo>
                  <a:lnTo>
                    <a:pt x="13390262" y="0"/>
                  </a:lnTo>
                  <a:lnTo>
                    <a:pt x="13390262" y="1697663"/>
                  </a:lnTo>
                  <a:lnTo>
                    <a:pt x="0" y="1697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390262" cy="17071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447"/>
                </a:lnSpc>
              </a:pPr>
              <a:r>
                <a:rPr lang="en-US" sz="6206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InsightfulProctor  </a:t>
              </a:r>
            </a:p>
            <a:p>
              <a:pPr algn="ctr">
                <a:lnSpc>
                  <a:spcPts val="7447"/>
                </a:lnSpc>
              </a:pPr>
              <a:r>
                <a:rPr lang="en-US" sz="6206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Integrity Layer for AI Interviews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28747" y="4547324"/>
            <a:ext cx="5085718" cy="3979575"/>
          </a:xfrm>
          <a:custGeom>
            <a:avLst/>
            <a:gdLst/>
            <a:ahLst/>
            <a:cxnLst/>
            <a:rect r="r" b="b" t="t" l="l"/>
            <a:pathLst>
              <a:path h="3979575" w="5085718">
                <a:moveTo>
                  <a:pt x="0" y="0"/>
                </a:moveTo>
                <a:lnTo>
                  <a:pt x="5085718" y="0"/>
                </a:lnTo>
                <a:lnTo>
                  <a:pt x="5085718" y="3979575"/>
                </a:lnTo>
                <a:lnTo>
                  <a:pt x="0" y="3979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41611"/>
            <a:ext cx="9621955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4381" indent="-372190" lvl="1">
              <a:lnSpc>
                <a:spcPts val="4137"/>
              </a:lnSpc>
              <a:buFont typeface="Arial"/>
              <a:buChar char="•"/>
            </a:pPr>
            <a:r>
              <a:rPr lang="en-US" b="true" sz="3447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Purpose:</a:t>
            </a:r>
            <a:r>
              <a:rPr lang="en-US" sz="3447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Ensure fairness and integrity when an AI conducts interviews by detecting identity, attention, and environment issues.</a:t>
            </a:r>
          </a:p>
          <a:p>
            <a:pPr algn="just" marL="744381" indent="-372190" lvl="1">
              <a:lnSpc>
                <a:spcPts val="4137"/>
              </a:lnSpc>
              <a:buFont typeface="Arial"/>
              <a:buChar char="•"/>
            </a:pPr>
            <a:r>
              <a:rPr lang="en-US" b="true" sz="3447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Approach:</a:t>
            </a:r>
            <a:r>
              <a:rPr lang="en-US" sz="3447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Merge signals from computer vision + GPT‑4.1 Vision; pick whichever is clearer and non‑vague.</a:t>
            </a:r>
          </a:p>
          <a:p>
            <a:pPr algn="just" marL="744381" indent="-372190" lvl="1">
              <a:lnSpc>
                <a:spcPts val="4137"/>
              </a:lnSpc>
              <a:buFont typeface="Arial"/>
              <a:buChar char="•"/>
            </a:pPr>
            <a:r>
              <a:rPr lang="en-US" b="true" sz="3447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Outcome:</a:t>
            </a:r>
            <a:r>
              <a:rPr lang="en-US" sz="3447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Clear Green/Amber/Red decisions with concise reasons and on‑screen overlays.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7613" y="1028700"/>
            <a:ext cx="12577052" cy="1515638"/>
            <a:chOff x="0" y="0"/>
            <a:chExt cx="10313114" cy="12428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3114" cy="1242815"/>
            </a:xfrm>
            <a:custGeom>
              <a:avLst/>
              <a:gdLst/>
              <a:ahLst/>
              <a:cxnLst/>
              <a:rect r="r" b="b" t="t" l="l"/>
              <a:pathLst>
                <a:path h="1242815" w="10313114">
                  <a:moveTo>
                    <a:pt x="0" y="0"/>
                  </a:moveTo>
                  <a:lnTo>
                    <a:pt x="10313114" y="0"/>
                  </a:lnTo>
                  <a:lnTo>
                    <a:pt x="10313114" y="1242815"/>
                  </a:lnTo>
                  <a:lnTo>
                    <a:pt x="0" y="1242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313114" cy="1242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92"/>
                </a:lnSpc>
              </a:pPr>
              <a:r>
                <a:rPr lang="en-US" sz="6243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PROBLEM IN AI‑FIRST INTERVIEWS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458" y="3075542"/>
            <a:ext cx="12577052" cy="523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926" indent="-374463" lvl="1">
              <a:lnSpc>
                <a:spcPts val="4162"/>
              </a:lnSpc>
              <a:buFont typeface="Arial"/>
              <a:buChar char="•"/>
            </a:pPr>
            <a:r>
              <a:rPr lang="en-US" b="true" sz="346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Missed signals:</a:t>
            </a:r>
            <a:r>
              <a:rPr lang="en-US" sz="346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46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AI interviewers focus only on Q&amp;A but cannot reliably notice if someone else is present, if the candidate is using another device, looking away from the screen, or reading from hidden notes.</a:t>
            </a:r>
          </a:p>
          <a:p>
            <a:pPr algn="just" marL="748926" indent="-374463" lvl="1">
              <a:lnSpc>
                <a:spcPts val="4162"/>
              </a:lnSpc>
              <a:buFont typeface="Arial"/>
              <a:buChar char="•"/>
            </a:pPr>
            <a:r>
              <a:rPr lang="en-US" b="true" sz="346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Scaling issue:</a:t>
            </a:r>
            <a:r>
              <a:rPr lang="en-US" sz="346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Human proctors can catch these issues, but they are expensive, inconsistent, and cannot support thousands of interviews at once.</a:t>
            </a:r>
          </a:p>
          <a:p>
            <a:pPr algn="just" marL="748926" indent="-374463" lvl="1">
              <a:lnSpc>
                <a:spcPts val="4162"/>
              </a:lnSpc>
              <a:buFont typeface="Arial"/>
              <a:buChar char="•"/>
            </a:pPr>
            <a:r>
              <a:rPr lang="en-US" b="true" sz="346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Business need:</a:t>
            </a:r>
            <a:r>
              <a:rPr lang="en-US" sz="346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Companies require an automated integrity layer that is transparent, respects privacy, and plugs directly into AI interview workflows.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35172" y="4445474"/>
            <a:ext cx="2524128" cy="2498887"/>
          </a:xfrm>
          <a:custGeom>
            <a:avLst/>
            <a:gdLst/>
            <a:ahLst/>
            <a:cxnLst/>
            <a:rect r="r" b="b" t="t" l="l"/>
            <a:pathLst>
              <a:path h="2498887" w="2524128">
                <a:moveTo>
                  <a:pt x="0" y="0"/>
                </a:moveTo>
                <a:lnTo>
                  <a:pt x="2524128" y="0"/>
                </a:lnTo>
                <a:lnTo>
                  <a:pt x="2524128" y="2498887"/>
                </a:lnTo>
                <a:lnTo>
                  <a:pt x="0" y="2498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426" y="527765"/>
            <a:ext cx="11021616" cy="1944926"/>
            <a:chOff x="0" y="0"/>
            <a:chExt cx="9212041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12040" cy="1625600"/>
            </a:xfrm>
            <a:custGeom>
              <a:avLst/>
              <a:gdLst/>
              <a:ahLst/>
              <a:cxnLst/>
              <a:rect r="r" b="b" t="t" l="l"/>
              <a:pathLst>
                <a:path h="1625600" w="9212040">
                  <a:moveTo>
                    <a:pt x="0" y="0"/>
                  </a:moveTo>
                  <a:lnTo>
                    <a:pt x="9212040" y="0"/>
                  </a:lnTo>
                  <a:lnTo>
                    <a:pt x="921204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212041" cy="1625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50"/>
                </a:lnSpc>
              </a:pPr>
              <a:r>
                <a:rPr lang="en-US" sz="6125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WHAT InsightfulProctor CHECKS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15918" y="3551393"/>
            <a:ext cx="2041877" cy="3184214"/>
          </a:xfrm>
          <a:custGeom>
            <a:avLst/>
            <a:gdLst/>
            <a:ahLst/>
            <a:cxnLst/>
            <a:rect r="r" b="b" t="t" l="l"/>
            <a:pathLst>
              <a:path h="3184214" w="2041877">
                <a:moveTo>
                  <a:pt x="0" y="0"/>
                </a:moveTo>
                <a:lnTo>
                  <a:pt x="2041877" y="0"/>
                </a:lnTo>
                <a:lnTo>
                  <a:pt x="2041877" y="3184214"/>
                </a:lnTo>
                <a:lnTo>
                  <a:pt x="0" y="318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897853"/>
            <a:ext cx="11208342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749" indent="-367375" lvl="1">
              <a:lnSpc>
                <a:spcPts val="4083"/>
              </a:lnSpc>
              <a:buFont typeface="Arial"/>
              <a:buChar char="•"/>
            </a:pPr>
            <a:r>
              <a:rPr lang="en-US" b="true" sz="3403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Identity:</a:t>
            </a:r>
            <a:r>
              <a:rPr lang="en-US" sz="3403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Confirms the same person is present throughout the interview by comparing their face with a reference photo or ID.</a:t>
            </a:r>
          </a:p>
          <a:p>
            <a:pPr algn="just" marL="734749" indent="-367375" lvl="1">
              <a:lnSpc>
                <a:spcPts val="4083"/>
              </a:lnSpc>
              <a:buFont typeface="Arial"/>
              <a:buChar char="•"/>
            </a:pPr>
            <a:r>
              <a:rPr lang="en-US" b="true" sz="3403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Attention:</a:t>
            </a:r>
            <a:r>
              <a:rPr lang="en-US" sz="3403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Verifies that the candidate is looking at the screen and engaged, not distracted or turned away.</a:t>
            </a:r>
          </a:p>
          <a:p>
            <a:pPr algn="just" marL="734749" indent="-367375" lvl="1">
              <a:lnSpc>
                <a:spcPts val="4083"/>
              </a:lnSpc>
              <a:buFont typeface="Arial"/>
              <a:buChar char="•"/>
            </a:pPr>
            <a:r>
              <a:rPr lang="en-US" b="true" sz="3403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Environment:</a:t>
            </a:r>
            <a:r>
              <a:rPr lang="en-US" sz="3403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Flags extra devices like phones, second screens, or printed notes that could help the candidate unfairly.</a:t>
            </a:r>
          </a:p>
          <a:p>
            <a:pPr algn="just" marL="734749" indent="-367375" lvl="1">
              <a:lnSpc>
                <a:spcPts val="4083"/>
              </a:lnSpc>
              <a:buFont typeface="Arial"/>
              <a:buChar char="•"/>
            </a:pPr>
            <a:r>
              <a:rPr lang="en-US" b="true" sz="3403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Hands &amp; actions:</a:t>
            </a:r>
            <a:r>
              <a:rPr lang="en-US" sz="3403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Detects whether the candidate is holding or using objects that suggest external assistance.</a:t>
            </a:r>
          </a:p>
          <a:p>
            <a:pPr algn="just">
              <a:lnSpc>
                <a:spcPts val="408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1706" y="225981"/>
            <a:ext cx="15547594" cy="1983917"/>
            <a:chOff x="0" y="0"/>
            <a:chExt cx="12739529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39529" cy="1625600"/>
            </a:xfrm>
            <a:custGeom>
              <a:avLst/>
              <a:gdLst/>
              <a:ahLst/>
              <a:cxnLst/>
              <a:rect r="r" b="b" t="t" l="l"/>
              <a:pathLst>
                <a:path h="1625600" w="12739529">
                  <a:moveTo>
                    <a:pt x="0" y="0"/>
                  </a:moveTo>
                  <a:lnTo>
                    <a:pt x="12739529" y="0"/>
                  </a:lnTo>
                  <a:lnTo>
                    <a:pt x="12739529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2739529" cy="1625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498"/>
                </a:lnSpc>
              </a:pPr>
              <a:r>
                <a:rPr lang="en-US" sz="6248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DUAL‑SIGNAL DESIGN (GPT‑4.1 VISION + CV)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81471" y="2054745"/>
            <a:ext cx="14125057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5"/>
              </a:lnSpc>
            </a:pPr>
            <a:r>
              <a:rPr lang="en-US" b="true" sz="3471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Computer Vision pipeline:</a:t>
            </a:r>
          </a:p>
          <a:p>
            <a:pPr algn="just" marL="749478" indent="-374739" lvl="1">
              <a:lnSpc>
                <a:spcPts val="4165"/>
              </a:lnSpc>
              <a:buFont typeface="Arial"/>
              <a:buChar char="•"/>
            </a:pPr>
            <a:r>
              <a:rPr lang="en-US" sz="3471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Built with MediaPipe (Face &amp; Hands), YOLOv8m (object detection), DeepFace (ArcFace + RetinaFace for identity). These give measurable outputs: faces, gaze direction, objects, and match scores.</a:t>
            </a:r>
          </a:p>
          <a:p>
            <a:pPr algn="just">
              <a:lnSpc>
                <a:spcPts val="4165"/>
              </a:lnSpc>
            </a:pPr>
          </a:p>
          <a:p>
            <a:pPr algn="just">
              <a:lnSpc>
                <a:spcPts val="4165"/>
              </a:lnSpc>
            </a:pPr>
            <a:r>
              <a:rPr lang="en-US" b="true" sz="3471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GPT-4.1 Vision (Azure OpenAI)</a:t>
            </a:r>
            <a:r>
              <a:rPr lang="en-US" sz="3471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</a:p>
          <a:p>
            <a:pPr algn="just" marL="749478" indent="-374739" lvl="1">
              <a:lnSpc>
                <a:spcPts val="4165"/>
              </a:lnSpc>
              <a:buFont typeface="Arial"/>
              <a:buChar char="•"/>
            </a:pPr>
            <a:r>
              <a:rPr lang="en-US" sz="3471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Reads the same frames and produces a short, factual description of what it sees (e.g., “person looking left, phone in hand”).</a:t>
            </a:r>
          </a:p>
          <a:p>
            <a:pPr algn="just">
              <a:lnSpc>
                <a:spcPts val="4165"/>
              </a:lnSpc>
            </a:pPr>
          </a:p>
          <a:p>
            <a:pPr algn="just">
              <a:lnSpc>
                <a:spcPts val="4165"/>
              </a:lnSpc>
            </a:pPr>
            <a:r>
              <a:rPr lang="en-US" b="true" sz="3471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Smart Selector logic:</a:t>
            </a:r>
          </a:p>
          <a:p>
            <a:pPr algn="just" marL="749478" indent="-374739" lvl="1">
              <a:lnSpc>
                <a:spcPts val="4165"/>
              </a:lnSpc>
              <a:buFont typeface="Arial"/>
              <a:buChar char="•"/>
            </a:pPr>
            <a:r>
              <a:rPr lang="en-US" sz="3471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If GPT-4.1 Vision gives a clear, concise summary → we use it.</a:t>
            </a:r>
          </a:p>
          <a:p>
            <a:pPr algn="just" marL="749478" indent="-374739" lvl="1">
              <a:lnSpc>
                <a:spcPts val="4165"/>
              </a:lnSpc>
              <a:buFont typeface="Arial"/>
              <a:buChar char="•"/>
            </a:pPr>
            <a:r>
              <a:rPr lang="en-US" sz="3471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If it’s vague or uncertain → we rely on the deterministic CV results.</a:t>
            </a:r>
          </a:p>
          <a:p>
            <a:pPr algn="just" marL="749478" indent="-374739" lvl="1">
              <a:lnSpc>
                <a:spcPts val="4165"/>
              </a:lnSpc>
              <a:buFont typeface="Arial"/>
              <a:buChar char="•"/>
            </a:pPr>
            <a:r>
              <a:rPr lang="en-US" sz="3471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Outcome: The system always delivers non-vague, auditable decisions — blending the precision of CV tools with the readability of GPT-4.1 Vision.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9815" y="1328255"/>
            <a:ext cx="14408369" cy="7630490"/>
            <a:chOff x="0" y="0"/>
            <a:chExt cx="19211159" cy="10173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160751"/>
              <a:ext cx="19211159" cy="9013236"/>
            </a:xfrm>
            <a:custGeom>
              <a:avLst/>
              <a:gdLst/>
              <a:ahLst/>
              <a:cxnLst/>
              <a:rect r="r" b="b" t="t" l="l"/>
              <a:pathLst>
                <a:path h="9013236" w="19211159">
                  <a:moveTo>
                    <a:pt x="0" y="0"/>
                  </a:moveTo>
                  <a:lnTo>
                    <a:pt x="19211159" y="0"/>
                  </a:lnTo>
                  <a:lnTo>
                    <a:pt x="19211159" y="9013235"/>
                  </a:lnTo>
                  <a:lnTo>
                    <a:pt x="0" y="9013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003721" y="1857369"/>
              <a:ext cx="7067799" cy="762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69"/>
                </a:lnSpc>
              </a:pPr>
              <a:r>
                <a:rPr lang="en-US" b="true" sz="3141">
                  <a:solidFill>
                    <a:srgbClr val="2A2E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Green - No issues detected.</a:t>
              </a:r>
            </a:p>
            <a:p>
              <a:pPr algn="l">
                <a:lnSpc>
                  <a:spcPts val="3769"/>
                </a:lnSpc>
              </a:pPr>
            </a:p>
            <a:p>
              <a:pPr algn="l">
                <a:lnSpc>
                  <a:spcPts val="3769"/>
                </a:lnSpc>
              </a:pPr>
              <a:r>
                <a:rPr lang="en-US" b="true" sz="3141">
                  <a:solidFill>
                    <a:srgbClr val="2A2E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Amber - Minor concerns</a:t>
              </a:r>
            </a:p>
            <a:p>
              <a:pPr algn="l">
                <a:lnSpc>
                  <a:spcPts val="3769"/>
                </a:lnSpc>
              </a:pPr>
              <a:r>
                <a:rPr lang="en-US" sz="31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— Brief off-gaze</a:t>
              </a:r>
            </a:p>
            <a:p>
              <a:pPr algn="l">
                <a:lnSpc>
                  <a:spcPts val="3769"/>
                </a:lnSpc>
              </a:pPr>
              <a:r>
                <a:rPr lang="en-US" sz="31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— 1–2 low-risk objects (e.g., notebook)</a:t>
              </a:r>
            </a:p>
            <a:p>
              <a:pPr algn="l">
                <a:lnSpc>
                  <a:spcPts val="3769"/>
                </a:lnSpc>
              </a:pPr>
            </a:p>
            <a:p>
              <a:pPr algn="l">
                <a:lnSpc>
                  <a:spcPts val="3769"/>
                </a:lnSpc>
              </a:pPr>
              <a:r>
                <a:rPr lang="en-US" b="true" sz="3141">
                  <a:solidFill>
                    <a:srgbClr val="2A2E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Red - Critical Violations</a:t>
              </a:r>
            </a:p>
            <a:p>
              <a:pPr algn="l">
                <a:lnSpc>
                  <a:spcPts val="3769"/>
                </a:lnSpc>
              </a:pPr>
              <a:r>
                <a:rPr lang="en-US" sz="31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— Wrong person</a:t>
              </a:r>
            </a:p>
            <a:p>
              <a:pPr algn="l">
                <a:lnSpc>
                  <a:spcPts val="3769"/>
                </a:lnSpc>
              </a:pPr>
              <a:r>
                <a:rPr lang="en-US" sz="31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— Prohibited object detected</a:t>
              </a:r>
            </a:p>
            <a:p>
              <a:pPr algn="l">
                <a:lnSpc>
                  <a:spcPts val="3769"/>
                </a:lnSpc>
              </a:pPr>
              <a:r>
                <a:rPr lang="en-US" sz="31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— Face not visible</a:t>
              </a:r>
            </a:p>
            <a:p>
              <a:pPr algn="l">
                <a:lnSpc>
                  <a:spcPts val="3769"/>
                </a:lnSpc>
              </a:pPr>
              <a:r>
                <a:rPr lang="en-US" sz="31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→ Triggers immediate stop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1650593" y="2720969"/>
              <a:ext cx="6603773" cy="589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8"/>
                </a:lnSpc>
              </a:pPr>
              <a:r>
                <a:rPr lang="en-US" b="true" sz="3673" strike="noStrike" u="none">
                  <a:solidFill>
                    <a:srgbClr val="2A2E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Start Score: </a:t>
              </a:r>
              <a:r>
                <a:rPr lang="en-US" sz="3673" strike="noStrike" u="none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100</a:t>
              </a:r>
            </a:p>
            <a:p>
              <a:pPr algn="l">
                <a:lnSpc>
                  <a:spcPts val="4408"/>
                </a:lnSpc>
              </a:pPr>
            </a:p>
            <a:p>
              <a:pPr algn="l">
                <a:lnSpc>
                  <a:spcPts val="4408"/>
                </a:lnSpc>
              </a:pPr>
              <a:r>
                <a:rPr lang="en-US" b="true" sz="3673" strike="noStrike" u="none">
                  <a:solidFill>
                    <a:srgbClr val="2A2E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Amber:</a:t>
              </a:r>
              <a:r>
                <a:rPr lang="en-US" sz="3673" strike="noStrike" u="none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−20 points each</a:t>
              </a:r>
            </a:p>
            <a:p>
              <a:pPr algn="l">
                <a:lnSpc>
                  <a:spcPts val="4408"/>
                </a:lnSpc>
              </a:pPr>
              <a:r>
                <a:rPr lang="en-US" sz="3673" strike="noStrike" u="none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→ Up to 3 allowed</a:t>
              </a:r>
            </a:p>
            <a:p>
              <a:pPr algn="l">
                <a:lnSpc>
                  <a:spcPts val="4408"/>
                </a:lnSpc>
              </a:pPr>
            </a:p>
            <a:p>
              <a:pPr algn="l">
                <a:lnSpc>
                  <a:spcPts val="4408"/>
                </a:lnSpc>
              </a:pPr>
              <a:r>
                <a:rPr lang="en-US" b="true" sz="3673" strike="noStrike" u="none">
                  <a:solidFill>
                    <a:srgbClr val="2A2E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Red: </a:t>
              </a:r>
              <a:r>
                <a:rPr lang="en-US" sz="3673" strike="noStrike" u="none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−50 points</a:t>
              </a:r>
            </a:p>
            <a:p>
              <a:pPr algn="l">
                <a:lnSpc>
                  <a:spcPts val="4408"/>
                </a:lnSpc>
              </a:pPr>
              <a:r>
                <a:rPr lang="en-US" sz="3673" strike="noStrike" u="none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→ Early stop on Red or score reaching 40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2140125" y="-9525"/>
              <a:ext cx="5624711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9"/>
                </a:lnSpc>
                <a:spcBef>
                  <a:spcPct val="0"/>
                </a:spcBef>
              </a:pPr>
              <a:r>
                <a:rPr lang="en-US" sz="44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🎯 Scoring Model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29753" y="-9525"/>
              <a:ext cx="7384653" cy="91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9"/>
                </a:lnSpc>
                <a:spcBef>
                  <a:spcPct val="0"/>
                </a:spcBef>
              </a:pPr>
              <a:r>
                <a:rPr lang="en-US" sz="4441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✅ </a:t>
              </a:r>
              <a:r>
                <a:rPr lang="en-US" sz="4441" strike="noStrike" u="none">
                  <a:solidFill>
                    <a:srgbClr val="2A2E3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Decision Categories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49930" y="1028700"/>
            <a:ext cx="14188140" cy="1970575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447"/>
                </a:lnSpc>
              </a:pPr>
              <a:r>
                <a:rPr lang="en-US" sz="6206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TECH STACK AND INTEGRATIONS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01031" y="3705845"/>
            <a:ext cx="12685938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CV</a:t>
            </a: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OpenCV, MediaPipe (Face/Hands/Mesh), YOLOv8m.</a:t>
            </a:r>
          </a:p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Identity: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DeepFace (ArcFace + RetinaFace).</a:t>
            </a:r>
          </a:p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summaries: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GPT-4.1 Vision (Azure OpenAI).</a:t>
            </a:r>
          </a:p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Backend: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Python, PyTorch.</a:t>
            </a:r>
          </a:p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Frontend: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Streamlit for demo UI.</a:t>
            </a:r>
          </a:p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Integration: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JSON results.</a:t>
            </a:r>
          </a:p>
          <a:p>
            <a:pPr algn="l" marL="744439" indent="-372219" lvl="1">
              <a:lnSpc>
                <a:spcPts val="4137"/>
              </a:lnSpc>
              <a:buFont typeface="Arial"/>
              <a:buChar char="•"/>
            </a:pPr>
            <a:r>
              <a:rPr lang="en-US" b="true" sz="3448">
                <a:solidFill>
                  <a:srgbClr val="2A2E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Privacy:</a:t>
            </a:r>
            <a:r>
              <a:rPr lang="en-US" sz="3448">
                <a:solidFill>
                  <a:srgbClr val="2A2E30"/>
                </a:solidFill>
                <a:latin typeface="HK Grotesk"/>
                <a:ea typeface="HK Grotesk"/>
                <a:cs typeface="HK Grotesk"/>
                <a:sym typeface="HK Grotesk"/>
              </a:rPr>
              <a:t> Processes session media only; no storage, no training.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33312" y="6172200"/>
            <a:ext cx="4805606" cy="4114800"/>
          </a:xfrm>
          <a:custGeom>
            <a:avLst/>
            <a:gdLst/>
            <a:ahLst/>
            <a:cxnLst/>
            <a:rect r="r" b="b" t="t" l="l"/>
            <a:pathLst>
              <a:path h="4114800" w="4805606">
                <a:moveTo>
                  <a:pt x="0" y="0"/>
                </a:moveTo>
                <a:lnTo>
                  <a:pt x="4805606" y="0"/>
                </a:lnTo>
                <a:lnTo>
                  <a:pt x="48056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1957"/>
            <a:ext cx="16230600" cy="1965538"/>
            <a:chOff x="0" y="0"/>
            <a:chExt cx="13423532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23531" cy="1625600"/>
            </a:xfrm>
            <a:custGeom>
              <a:avLst/>
              <a:gdLst/>
              <a:ahLst/>
              <a:cxnLst/>
              <a:rect r="r" b="b" t="t" l="l"/>
              <a:pathLst>
                <a:path h="1625600" w="13423531">
                  <a:moveTo>
                    <a:pt x="0" y="0"/>
                  </a:moveTo>
                  <a:lnTo>
                    <a:pt x="13423531" y="0"/>
                  </a:lnTo>
                  <a:lnTo>
                    <a:pt x="13423531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23532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428"/>
                </a:lnSpc>
              </a:pPr>
              <a:r>
                <a:rPr lang="en-US" sz="6190">
                  <a:solidFill>
                    <a:srgbClr val="345C72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ARCHITECTURE &amp; FLOW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74914" y="0"/>
            <a:ext cx="4113086" cy="4114800"/>
          </a:xfrm>
          <a:custGeom>
            <a:avLst/>
            <a:gdLst/>
            <a:ahLst/>
            <a:cxnLst/>
            <a:rect r="r" b="b" t="t" l="l"/>
            <a:pathLst>
              <a:path h="4114800" w="4113086">
                <a:moveTo>
                  <a:pt x="0" y="0"/>
                </a:moveTo>
                <a:lnTo>
                  <a:pt x="4113086" y="0"/>
                </a:lnTo>
                <a:lnTo>
                  <a:pt x="4113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174914" y="6172200"/>
            <a:ext cx="4113086" cy="4114800"/>
          </a:xfrm>
          <a:custGeom>
            <a:avLst/>
            <a:gdLst/>
            <a:ahLst/>
            <a:cxnLst/>
            <a:rect r="r" b="b" t="t" l="l"/>
            <a:pathLst>
              <a:path h="4114800" w="4113086">
                <a:moveTo>
                  <a:pt x="0" y="4114800"/>
                </a:moveTo>
                <a:lnTo>
                  <a:pt x="4113086" y="4114800"/>
                </a:lnTo>
                <a:lnTo>
                  <a:pt x="411308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0" y="0"/>
            <a:ext cx="4113086" cy="4114800"/>
          </a:xfrm>
          <a:custGeom>
            <a:avLst/>
            <a:gdLst/>
            <a:ahLst/>
            <a:cxnLst/>
            <a:rect r="r" b="b" t="t" l="l"/>
            <a:pathLst>
              <a:path h="4114800" w="4113086">
                <a:moveTo>
                  <a:pt x="4113086" y="0"/>
                </a:moveTo>
                <a:lnTo>
                  <a:pt x="0" y="0"/>
                </a:lnTo>
                <a:lnTo>
                  <a:pt x="0" y="4114800"/>
                </a:lnTo>
                <a:lnTo>
                  <a:pt x="4113086" y="4114800"/>
                </a:lnTo>
                <a:lnTo>
                  <a:pt x="4113086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0" y="6172200"/>
            <a:ext cx="4113086" cy="4114800"/>
          </a:xfrm>
          <a:custGeom>
            <a:avLst/>
            <a:gdLst/>
            <a:ahLst/>
            <a:cxnLst/>
            <a:rect r="r" b="b" t="t" l="l"/>
            <a:pathLst>
              <a:path h="4114800" w="4113086">
                <a:moveTo>
                  <a:pt x="411308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3086" y="0"/>
                </a:lnTo>
                <a:lnTo>
                  <a:pt x="4113086" y="411480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3307474"/>
            <a:ext cx="18288000" cy="4401884"/>
          </a:xfrm>
          <a:custGeom>
            <a:avLst/>
            <a:gdLst/>
            <a:ahLst/>
            <a:cxnLst/>
            <a:rect r="r" b="b" t="t" l="l"/>
            <a:pathLst>
              <a:path h="4401884" w="18288000">
                <a:moveTo>
                  <a:pt x="0" y="0"/>
                </a:moveTo>
                <a:lnTo>
                  <a:pt x="18288000" y="0"/>
                </a:lnTo>
                <a:lnTo>
                  <a:pt x="18288000" y="4401884"/>
                </a:lnTo>
                <a:lnTo>
                  <a:pt x="0" y="4401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343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58977" y="3843330"/>
            <a:ext cx="5970046" cy="259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35"/>
              </a:lnSpc>
              <a:spcBef>
                <a:spcPct val="0"/>
              </a:spcBef>
            </a:pPr>
            <a:r>
              <a:rPr lang="en-US" sz="1694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DEMO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832374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DAGxV-S4oMU</dc:identifier>
  <dcterms:modified xsi:type="dcterms:W3CDTF">2011-08-01T06:04:30Z</dcterms:modified>
  <cp:revision>1</cp:revision>
  <dc:title>InsightfulProctor.pptx (Presentation)</dc:title>
</cp:coreProperties>
</file>